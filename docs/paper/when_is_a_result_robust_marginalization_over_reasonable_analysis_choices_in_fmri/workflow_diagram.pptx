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2011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463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</a:rPr>
              <a:t>Three-Ecosystem Default Pipelines</a:t>
            </a:r>
          </a:p>
          <a:p>
            <a:pPr algn="ctr"/>
            <a:r>
              <a:rPr sz="1400" i="1">
                <a:solidFill>
                  <a:srgbClr val="555555"/>
                </a:solidFill>
              </a:rPr>
              <a:t>9-step path from raw BOLD to FC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980B9"/>
                </a:solidFill>
              </a:rPr>
              <a:t>FSL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74C3C"/>
                </a:solidFill>
              </a:rPr>
              <a:t>SPM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914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</a:rPr>
              <a:t>fMRIPrep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2C3E50"/>
                </a:solidFill>
              </a:rPr>
              <a:t>Raw 4-D BOLD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1. Motion Correction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(MC)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MCFLIRT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ref=mid, normcorr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5603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SPM Realign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ref=first, LSQ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5603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MCFLIRT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ref=mid, normcorr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.0" y="38404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.0" y="38404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.0" y="38404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0.0" y="38404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2976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2. Slice-Timing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Correction (STC)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2976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slicetimer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sinc, ref=mid slice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2976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SPM STC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Fourier, ref=mid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42976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Fourier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ref=0.5 (mid-TR)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.0" y="55778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.0" y="55778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.0" y="55778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430000.0" y="55778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60350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3. Distortion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Correction (SDC)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60350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FUGUE (3T)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TOPUP (7T)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60350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SPM FieldMap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/ VDM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60350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TOPUP (7T)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SyN-SDC (3T)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28800.0" y="73152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0.0" y="73152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.0" y="73152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430000.0" y="73152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77724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4. Spatial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Normalisation (NORM)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77724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FLIRT + FNIRT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→ MNI152 2mm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77724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DARTEL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→ MNI152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77724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ANTs SyN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→ MNI152NLin2009c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28800.0" y="905256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29200.0" y="905256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29600.0" y="905256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430000.0" y="905256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57200" y="950976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5. Spatial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Smoothing (SMOOTH)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950976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SUSAN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6 mm FWHM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950976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Gaussian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8 mm FWHM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950976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None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(0 mm)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28800.0" y="1078992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29200.0" y="1078992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29600.0" y="1078992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430000.0" y="1078992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57200" y="112471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6. Temporal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Filtering (FILT)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112471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Butterworth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0.01–0.1 Hz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0" y="112471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Butterworth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0.01–0.1 Hz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0" y="112471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None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(user applies)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828800.0" y="125272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9200.0" y="125272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29600.0" y="125272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430000.0" y="1252728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57200" y="129844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7. Nuisance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Regression (REG)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0" y="129844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8P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(6P + WM/CSF)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129844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24P Friston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+ WM/CSF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58400" y="129844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aCompCor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+ ICA-AROMA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828800.0" y="142646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029200.0" y="142646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29600.0" y="142646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430000.0" y="1426464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57200" y="147218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8. Parcellation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(PARC)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0" y="147218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Schaefer 200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mean extraction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0" y="147218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AAL3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mean extraction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58400" y="1472184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Schaefer 200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mean extraction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828800.0" y="160020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029200.0" y="160020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29600.0" y="160020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430000.0" y="16002000"/>
            <a:ext cx="0.0" cy="45720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457200" y="164592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2C3E50"/>
                </a:solidFill>
              </a:rPr>
              <a:t>9. Connectivity</a:t>
            </a:r>
          </a:p>
          <a:p>
            <a:pPr algn="ctr"/>
            <a:r>
              <a:rPr sz="1100" b="1">
                <a:solidFill>
                  <a:srgbClr val="2C3E50"/>
                </a:solidFill>
              </a:rPr>
              <a:t>Metric (METRIC)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0" y="164592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Pearson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+ Fisher-z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58000" y="164592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Pearson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+ Fisher-z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058400" y="1645920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</a:rPr>
              <a:t>Pearson</a:t>
            </a:r>
          </a:p>
          <a:p>
            <a:pPr algn="ctr"/>
            <a:r>
              <a:rPr sz="1000" b="0">
                <a:solidFill>
                  <a:srgbClr val="222222"/>
                </a:solidFill>
              </a:rPr>
              <a:t>+ Fisher-z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828800.0" y="17739360"/>
            <a:ext cx="0.0" cy="27432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029200.0" y="17739360"/>
            <a:ext cx="0.0" cy="27432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229600.0" y="17739360"/>
            <a:ext cx="0.0" cy="27432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430000.0" y="17739360"/>
            <a:ext cx="0.0" cy="274320"/>
          </a:xfrm>
          <a:prstGeom prst="line">
            <a:avLst/>
          </a:prstGeom>
          <a:ln w="19050">
            <a:solidFill>
              <a:srgbClr val="7F8C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57200" y="18013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8F9F9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2C3E50"/>
                </a:solidFill>
              </a:rPr>
              <a:t>P × P FC Matrix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0" y="18013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222222"/>
                </a:solidFill>
              </a:rPr>
              <a:t>FSL.DEFAULT</a:t>
            </a:r>
          </a:p>
          <a:p>
            <a:pPr algn="ctr"/>
            <a:r>
              <a:rPr sz="1000" b="1">
                <a:solidFill>
                  <a:srgbClr val="222222"/>
                </a:solidFill>
              </a:rPr>
              <a:t>FC Matrix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58000" y="18013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ADBD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222222"/>
                </a:solidFill>
              </a:rPr>
              <a:t>SPM.DEFAULT</a:t>
            </a:r>
          </a:p>
          <a:p>
            <a:pPr algn="ctr"/>
            <a:r>
              <a:rPr sz="1000" b="1">
                <a:solidFill>
                  <a:srgbClr val="222222"/>
                </a:solidFill>
              </a:rPr>
              <a:t>FC Matrix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058400" y="18013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222222"/>
                </a:solidFill>
              </a:rPr>
              <a:t>FMRIPREP.DEFAULT</a:t>
            </a:r>
          </a:p>
          <a:p>
            <a:pPr algn="ctr"/>
            <a:r>
              <a:rPr sz="1000" b="1">
                <a:solidFill>
                  <a:srgbClr val="222222"/>
                </a:solidFill>
              </a:rPr>
              <a:t>FC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